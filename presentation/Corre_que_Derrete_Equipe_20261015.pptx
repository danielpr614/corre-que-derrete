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0b2a85c90f4a3a" /><Relationship Type="http://schemas.openxmlformats.org/officeDocument/2006/relationships/extended-properties" Target="/docProps/app.xml" Id="Radbc8163803541d8" /><Relationship Type="http://schemas.openxmlformats.org/officeDocument/2006/relationships/officeDocument" Target="/ppt/presentation.xml" Id="Rdc9883b5d6674e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1403be4001426c"/>
  </p:sldMasterIdLst>
  <p:notesMasterIdLst>
    <p:notesMasterId xmlns:r="http://schemas.openxmlformats.org/officeDocument/2006/relationships" r:id="Rfda62a5e2e22407a"/>
  </p:notesMasterIdLst>
  <p:sldIdLst>
    <p:sldId xmlns:r="http://schemas.openxmlformats.org/officeDocument/2006/relationships" id="256" r:id="Rb4b9ab88177b4279"/>
    <p:sldId xmlns:r="http://schemas.openxmlformats.org/officeDocument/2006/relationships" id="257" r:id="Rbebe00c9e29744ec"/>
    <p:sldId xmlns:r="http://schemas.openxmlformats.org/officeDocument/2006/relationships" id="258" r:id="R57804a2fff7c4daa"/>
    <p:sldId xmlns:r="http://schemas.openxmlformats.org/officeDocument/2006/relationships" id="259" r:id="Rba2495042751446a"/>
    <p:sldId xmlns:r="http://schemas.openxmlformats.org/officeDocument/2006/relationships" id="260" r:id="R2c47a5f8ff0a4916"/>
    <p:sldId xmlns:r="http://schemas.openxmlformats.org/officeDocument/2006/relationships" id="261" r:id="R6a01395d2c9d4153"/>
    <p:sldId xmlns:r="http://schemas.openxmlformats.org/officeDocument/2006/relationships" id="262" r:id="R25819683efe0467e"/>
    <p:sldId xmlns:r="http://schemas.openxmlformats.org/officeDocument/2006/relationships" id="263" r:id="R070d67d7e0f549a0"/>
    <p:sldId xmlns:r="http://schemas.openxmlformats.org/officeDocument/2006/relationships" id="264" r:id="R638b3fb9baa848b0"/>
    <p:sldId xmlns:r="http://schemas.openxmlformats.org/officeDocument/2006/relationships" id="265" r:id="R65b6f40ac6e74769"/>
    <p:sldId xmlns:r="http://schemas.openxmlformats.org/officeDocument/2006/relationships" id="266" r:id="Re30ba1eeac5c40d6"/>
    <p:sldId xmlns:r="http://schemas.openxmlformats.org/officeDocument/2006/relationships" id="267" r:id="R3825589c0572420c"/>
    <p:sldId xmlns:r="http://schemas.openxmlformats.org/officeDocument/2006/relationships" id="268" r:id="R4af75fd751a94916"/>
    <p:sldId xmlns:r="http://schemas.openxmlformats.org/officeDocument/2006/relationships" id="269" r:id="R6993db94475a4a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a27132fd0c499f" /><Relationship Type="http://schemas.openxmlformats.org/officeDocument/2006/relationships/slideMaster" Target="/ppt/slideMasters/slideMaster1.xml" Id="R5d1403be4001426c" /><Relationship Type="http://schemas.openxmlformats.org/officeDocument/2006/relationships/notesMaster" Target="/ppt/notesMasters/notesMaster1.xml" Id="Rfda62a5e2e22407a" /><Relationship Type="http://schemas.openxmlformats.org/officeDocument/2006/relationships/presProps" Target="/ppt/presProps.xml" Id="Rb95d647459474d79" /><Relationship Type="http://schemas.openxmlformats.org/officeDocument/2006/relationships/tableStyles" Target="/ppt/tableStyles.xml" Id="Reab12e317f2941e4" /><Relationship Type="http://schemas.openxmlformats.org/officeDocument/2006/relationships/slide" Target="/ppt/slides/slide1.xml" Id="Rb4b9ab88177b4279" /><Relationship Type="http://schemas.openxmlformats.org/officeDocument/2006/relationships/slide" Target="/ppt/slides/slide2.xml" Id="Rbebe00c9e29744ec" /><Relationship Type="http://schemas.openxmlformats.org/officeDocument/2006/relationships/slide" Target="/ppt/slides/slide3.xml" Id="R57804a2fff7c4daa" /><Relationship Type="http://schemas.openxmlformats.org/officeDocument/2006/relationships/slide" Target="/ppt/slides/slide4.xml" Id="Rba2495042751446a" /><Relationship Type="http://schemas.openxmlformats.org/officeDocument/2006/relationships/slide" Target="/ppt/slides/slide5.xml" Id="R2c47a5f8ff0a4916" /><Relationship Type="http://schemas.openxmlformats.org/officeDocument/2006/relationships/slide" Target="/ppt/slides/slide6.xml" Id="R6a01395d2c9d4153" /><Relationship Type="http://schemas.openxmlformats.org/officeDocument/2006/relationships/slide" Target="/ppt/slides/slide7.xml" Id="R25819683efe0467e" /><Relationship Type="http://schemas.openxmlformats.org/officeDocument/2006/relationships/slide" Target="/ppt/slides/slide8.xml" Id="R070d67d7e0f549a0" /><Relationship Type="http://schemas.openxmlformats.org/officeDocument/2006/relationships/slide" Target="/ppt/slides/slide9.xml" Id="R638b3fb9baa848b0" /><Relationship Type="http://schemas.openxmlformats.org/officeDocument/2006/relationships/slide" Target="/ppt/slides/slide10.xml" Id="R65b6f40ac6e74769" /><Relationship Type="http://schemas.openxmlformats.org/officeDocument/2006/relationships/slide" Target="/ppt/slides/slide11.xml" Id="Re30ba1eeac5c40d6" /><Relationship Type="http://schemas.openxmlformats.org/officeDocument/2006/relationships/slide" Target="/ppt/slides/slide12.xml" Id="R3825589c0572420c" /><Relationship Type="http://schemas.openxmlformats.org/officeDocument/2006/relationships/slide" Target="/ppt/slides/slide13.xml" Id="R4af75fd751a94916" /><Relationship Type="http://schemas.openxmlformats.org/officeDocument/2006/relationships/slide" Target="/ppt/slides/slide14.xml" Id="R6993db94475a4a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a9c87cfb6e4e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398402128a42bb" /><Relationship Type="http://schemas.openxmlformats.org/officeDocument/2006/relationships/notesMaster" Target="/ppt/notesMasters/notesMaster1.xml" Id="Rc8ca5c7e4fc34a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fa5c3919c642fc" /><Relationship Type="http://schemas.openxmlformats.org/officeDocument/2006/relationships/notesMaster" Target="/ppt/notesMasters/notesMaster1.xml" Id="R5beff2ab006a49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becc2e0b3047b3" /><Relationship Type="http://schemas.openxmlformats.org/officeDocument/2006/relationships/notesMaster" Target="/ppt/notesMasters/notesMaster1.xml" Id="R643546bd460b43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29cb0caf744e74" /><Relationship Type="http://schemas.openxmlformats.org/officeDocument/2006/relationships/notesMaster" Target="/ppt/notesMasters/notesMaster1.xml" Id="R3f363f7df06741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b38924832246d8" /><Relationship Type="http://schemas.openxmlformats.org/officeDocument/2006/relationships/notesMaster" Target="/ppt/notesMasters/notesMaster1.xml" Id="R1f713bafe67f47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32dd3f967340dd" /><Relationship Type="http://schemas.openxmlformats.org/officeDocument/2006/relationships/notesMaster" Target="/ppt/notesMasters/notesMaster1.xml" Id="R8eb8565d12874d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1f583e56d746b4" /><Relationship Type="http://schemas.openxmlformats.org/officeDocument/2006/relationships/notesMaster" Target="/ppt/notesMasters/notesMaster1.xml" Id="R6e3c8e9138dd42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a50963d15d4e43" /><Relationship Type="http://schemas.openxmlformats.org/officeDocument/2006/relationships/notesMaster" Target="/ppt/notesMasters/notesMaster1.xml" Id="R3e2921548fec4c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0b34227b5945e3" /><Relationship Type="http://schemas.openxmlformats.org/officeDocument/2006/relationships/notesMaster" Target="/ppt/notesMasters/notesMaster1.xml" Id="R04eac9ee778646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1411d8150b4211" /><Relationship Type="http://schemas.openxmlformats.org/officeDocument/2006/relationships/notesMaster" Target="/ppt/notesMasters/notesMaster1.xml" Id="Rf90c529a7e8244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83030a23764d76" /><Relationship Type="http://schemas.openxmlformats.org/officeDocument/2006/relationships/notesMaster" Target="/ppt/notesMasters/notesMaster1.xml" Id="Rd45f8a2d9c6b40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96e4599e904507" /><Relationship Type="http://schemas.openxmlformats.org/officeDocument/2006/relationships/notesMaster" Target="/ppt/notesMasters/notesMaster1.xml" Id="Rff1c8ed0b9fe41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8d225ce4b994e25" /><Relationship Type="http://schemas.openxmlformats.org/officeDocument/2006/relationships/notesMaster" Target="/ppt/notesMasters/notesMaster1.xml" Id="Rbbf05870c3c141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e077b405c94c0e" /><Relationship Type="http://schemas.openxmlformats.org/officeDocument/2006/relationships/notesMaster" Target="/ppt/notesMasters/notesMaster1.xml" Id="R8a6de11f9bd149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nosso projeto é uma corrida lateral em que o entregador precisa chegar ao cliente antes que o sorvete derreta. O personagem corre sozinho, e o jogador decide quando saltar. Vamos apresentar a ideia, as técnicas gráficas e depois mostrar uma partida.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Identificação e contribuições informadas por Daniel em 15/10/2026.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Escolhemos juntos o tema, a corrida lateral e os objetos que aparecem no caminho. Queríamos uma partida curta, com controles simples, para colegas e jogadores iniciantes. O sorvete deu sentido às regras: o calor reduz a barra, os impactos fazem perder conservação e o gelo ajuda a recuperar. O objetivo de projeto foi criar um jogo pequeno, mas com começo, desafio e conclusão.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docs/01-concepcao.md e docs/02-telas-e-graficos.md. Cena do menu produzida pelo renderizador, sem partida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A conservação começa em cem por cento. O calor tira dois pontos percentuais por segundo ativo, e bater em cone ou caixa tira vinte. O gelo recupera até quinze, respeitando o limite de cem. Por exemplo, um impacto com oitenta deixa sessenta. A rota tem mil e oitocentos metros, e a dificuldade aumenta em três trechos. Para vencer, é preciso chegar com conservação acima de zero. A pontuação soma os metros percorridos e cem pontos por gelo.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game/settings.py, game/run.py e game/entities.py.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jogo usa estados para decidir o que recebe comandos e o que aparece na tela. No menu, podemos iniciar ou ler as instruções. Na corrida, podemos pausar e retomar. A partida termina no resultado, que pode ser vitória ou derrota. O resultado permite reiniciar ou voltar ao menu. As opções de áudio estão no menu e na pausa. Ao ajustar o volume durante uma pausa, a corrida continua congelada.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game/app.py: App.set_state, handle_event e activate. Diagrama simplificado do fluxo.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60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código separa os comandos, as regras e o desenho. A classe App recebe eventos e controla o estado. Run guarda a corrida e aplica as regras. Renderer desenha, e Window cuida da janela e da tela cheia. A cada repetição do loop, o jogo lê os comandos, atualiza a partida e desenha a tela. O tempo entra nos cálculos para o movimento não depender só da quantidade de quadros. A simulação usa passos fixos de um sessenta avos de segundo. Na pausa, a atualização da corrida para.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game/app.py:main e App.update; game/run.py; game/graphics.py; game/window.py.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No salto, o personagem recebe velocidade para cima. A gravidade faz ele voltar ao chão. Enquanto isso, a câmera acompanha o avanço da rota: os objetos se deslocam na tela, mas o HUD fica parado. Para colisões, o jogo usa caixas retangulares, chamadas hitboxes. O colliderect verifica quando elas se sobrepõem. Cada obstáculo pode causar dano uma vez por passagem. A proteção evita impactos seguidos por um curto intervalo. A caixa do cone é uma aproximação, não acompanha cada detalhe da sua forma.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game/entities.py: Player.update/rect e WorldObject.rect; game/run.py: Run.update; game/graphics.py: world/hud. Cena preparada com o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parallax cria profundidade usando velocidades diferentes. As nuvens andam devagar, os prédios ficam no meio e as fachadas próximas se movem mais rápido. São camadas de um cenário 2D. O fundo se repete para continuar a corrida sem terminar de repente. Na implementação, cada camada usa um fator aplicado à distância da câmera. A operação de módulo faz a repetição.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game/parallax.py: Parallax.draw e layer_offset; fatores 0,15, 0,35, 0,70. Cena preparada do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A animação funciona pela troca de quadros. Existem seis poses de corrida, alternadas dez vezes por segundo. As pernas mudam de posição e dão a impressão de movimento. No salto, o jogo escolhe uma pose para a subida e outra para a descida. Os quadros ficam guardados na memória. A animação muda o desenho, enquanto a caixa de colisão mantém o mesmo tamanho.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game/animation.py: CourierAnimation.make_frame, frame_index e draw. Sequência dos seis quadros gerados pelo próprio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Os efeitos ajudam a entender o que aconteceu. A coleta produz cristais, o impacto gera faíscas e a conservação baixa mostra gotas. Cada partícula nasce com uma posição, uma velocidade e um tempo de vida. Ela se move e desaparece ao acabar esse tempo. O limite de cem partículas evita acumular efeitos. O aviso na tela e a mudança na barra complementam a informação. As partículas são visuais: quem calcula a perda de conservação é a regra da corrida.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game/particles.py e Run.update. Cena preparada para ilustrar coleta e conservação baixa.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Começamos com a concepção e um protótipo de formas simples. O histórico registra a corrida, o salto e as primeiras colisões antes das melhorias visuais. Depois entraram as camadas do cenário, os quadros e as partículas. Os testes no Windows mostraram que ampliar a janela deixava a imagem pouco definida. A solução foi desenhar na resolução final. Também corrigimos o rosto do cliente e adicionamos a música. As imagens mostram esses estágios, e os commits e o diário registram as mudanças.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docs/14-evidencias-e-evolucao.md. Esquerda: captura humana do protótipo, image(20261007-144107).png. Centro: captura humana após renderização nativa e antes da correção do cliente, image(20261007-162105).png. Direita: cena preparada do código atual. Todas as imagens originam-se do trabalho da equipe, sem imagens externas.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Os testes ajudaram a encontrar problemas visíveis. Algumas setas apareciam como retângulos, então as instruções passaram a usar palavras. A imagem ficava pouco nítida em tela grande, então o desenho passou a usar a resolução final. O cliente frontal parecia ter um olho só e recebeu um rosto com dois olhos e sorriso central. Também verificamos regras, telas e reinício por testes automáticos. Daniel jogou no Windows e aprovou o visual e o áudio. O próximo cuidado é ensaiar no computador da avaliação.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docs/08-revisao-interface.md, docs/10-renderizacao-nativa.md e docs/11-cliente-e-audio.md. A revisão de 15/10 executou 59 testes SDL dummy, sem novo teste humano.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Daniel, John e Lucas participaram das escolhas do tema, da corrida lateral, dos obstáculos e dos itens. Daniel executou os testes no Windows e relatou os problemas usados nas revisões. ChatGPT e Codex geraram grande parte do código e apoiaram os desenhos, os testes automatizados e a documentação. Esse uso está registrado com finalidade, partes afetadas e validação. A nossa responsabilidade na apresentação é compreender as regras e explicar as técnicas do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Relato de Daniel em 15/10/2026 sobre decisões coletivas. docs/06-fontes-e-ia.md e docs/16-equipe-e-entrega.md. Não atribuir programação de módulos a integrantes sem relato.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A principal referência foi o enunciado do professor. O jogo usa Python e Pygame, e a arte é desenhada no código. A música é House In a Forest Loop, de HorrorPen, com licença Creative Commons Attribution três ponto zero. Os três repositórios sugeridos estão registrados, mas não copiamos código deles. Os créditos completos e o registro de IA acompanham 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Enunciado, seção 14; docs/06-fontes-e-ia.md; assets/audio/CREDITOS.md. Python: https://www.python.org/, licença PSF. Pygame: https://www.pygame.org/, LGPL e fonte padrão conforme avisos do pacote. Música: https://opengameart.org/content/loop-house-in-a-forest; https://creativecommons.org/licenses/by/3.0/. ChatGPT/Codex: https://openai.com/chatgpt/. Referências de jogos indicadas: itspyguru/Python-Games, Leonardpepa/pygame-simple-examples e veddegre/python-games-collection; sem reutilização de código e sem afirmar estudo não relatado.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2 a 3 minutos, após exposição e perguntas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Agora vamos mostrar o jogo funcionando. Começamos pelo menu, iniciamos a corrida e mostramos salto, gelo e obstáculos. Durante a partida, apontamos o HUD e as camadas do cenário. Pausamos uma vez, abrimos Áudio e retomamos. No resultado, mostramos vitória ou derrota e a opção de jogar novamente. Se perdermos, explicamos a condição e reiniciamos. As imagens da apresentação ajudam a mostrar efeitos que não apareçam nessa partida.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Projeto Corre que Derrete!, GitHub Danielpr614/corre-que-derrete, implementação 23f755e e documentação de 15/10/2026. Controles em App.handle_event. Imagem de resultado preparada pelo renderizador com valores definidos, não é registro de partida concluída pela 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4ccf13169f43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54cfa4233249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dee2b1e05484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d8cfae59d41b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de7ec121044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713eb2d17d41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179763-8548-4569-BE63-2B26D9AB19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B4C5557-2816-471B-822F-35CD1E46873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3A7A2CB-7B93-420D-A43C-798AE7A138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D1ABC0-8FDE-489B-B0C3-0BE0DEAA52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CAED0B5-E454-46AB-981C-4D45BEFE8E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83A96B-7A50-4F6B-BE58-AFBF432D52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93ED9FF-FD97-4181-95C5-109FECD700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4EA62E9-85F0-45E6-8E7F-BE030B05CD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546BC2-242E-4516-A27D-5301FB336F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B175D5-5024-4516-8935-F0BD8A3FE8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6d87db16ec44a7" /><Relationship Type="http://schemas.openxmlformats.org/officeDocument/2006/relationships/slideLayout" Target="/ppt/slideLayouts/slideLayout1.xml" Id="R0e3ad262219f4ce7" /><Relationship Type="http://schemas.openxmlformats.org/officeDocument/2006/relationships/slideLayout" Target="/ppt/slideLayouts/slideLayout2.xml" Id="R63e580c9e5214f50" /><Relationship Type="http://schemas.openxmlformats.org/officeDocument/2006/relationships/slideLayout" Target="/ppt/slideLayouts/slideLayout3.xml" Id="R9b68489f78784a9c" /><Relationship Type="http://schemas.openxmlformats.org/officeDocument/2006/relationships/slideLayout" Target="/ppt/slideLayouts/slideLayout4.xml" Id="R8d4df4621e5b49eb" /><Relationship Type="http://schemas.openxmlformats.org/officeDocument/2006/relationships/slideLayout" Target="/ppt/slideLayouts/slideLayout5.xml" Id="R5088114a09ed4a62" /><Relationship Type="http://schemas.openxmlformats.org/officeDocument/2006/relationships/slideLayout" Target="/ppt/slideLayouts/slideLayout6.xml" Id="Re08e464898a643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3ad262219f4ce7"/>
    <p:sldLayoutId xmlns:r="http://schemas.openxmlformats.org/officeDocument/2006/relationships" id="2147483650" r:id="R63e580c9e5214f50"/>
    <p:sldLayoutId xmlns:r="http://schemas.openxmlformats.org/officeDocument/2006/relationships" id="2147483651" r:id="R9b68489f78784a9c"/>
    <p:sldLayoutId xmlns:r="http://schemas.openxmlformats.org/officeDocument/2006/relationships" id="2147483652" r:id="R8d4df4621e5b49eb"/>
    <p:sldLayoutId xmlns:r="http://schemas.openxmlformats.org/officeDocument/2006/relationships" id="2147483653" r:id="R5088114a09ed4a62"/>
    <p:sldLayoutId xmlns:r="http://schemas.openxmlformats.org/officeDocument/2006/relationships" id="2147483654" r:id="Re08e464898a643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910dc82d4349ac" /><Relationship Type="http://schemas.openxmlformats.org/officeDocument/2006/relationships/image" Target="/ppt/media/image.png" Id="R69cdff966ebf4972" /><Relationship Type="http://schemas.openxmlformats.org/officeDocument/2006/relationships/notesSlide" Target="/ppt/notesSlides/notesSlide1.xml" Id="Rf26d36186cb643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689c9184d4fca" /><Relationship Type="http://schemas.openxmlformats.org/officeDocument/2006/relationships/image" Target="/ppt/media/image2.png" Id="Re8fee7d126a74e77" /><Relationship Type="http://schemas.openxmlformats.org/officeDocument/2006/relationships/notesSlide" Target="/ppt/notesSlides/notesSlide2.xml" Id="Rf2da5ccc5b5944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181256f4f34ba1" /><Relationship Type="http://schemas.openxmlformats.org/officeDocument/2006/relationships/notesSlide" Target="/ppt/notesSlides/notesSlide3.xml" Id="R312c7f9ea48f40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9fe256e6bd42d8" /><Relationship Type="http://schemas.openxmlformats.org/officeDocument/2006/relationships/notesSlide" Target="/ppt/notesSlides/notesSlide4.xml" Id="R3561033a74754c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f562b0a5df4b82" /><Relationship Type="http://schemas.openxmlformats.org/officeDocument/2006/relationships/notesSlide" Target="/ppt/notesSlides/notesSlide5.xml" Id="Rbbcd15be05a948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9af3a48a4843a1" /><Relationship Type="http://schemas.openxmlformats.org/officeDocument/2006/relationships/image" Target="/ppt/media/image3.png" Id="R93bfbc94280b4705" /><Relationship Type="http://schemas.openxmlformats.org/officeDocument/2006/relationships/notesSlide" Target="/ppt/notesSlides/notesSlide6.xml" Id="R4ceec6aec2bc4d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55c7b990504142" /><Relationship Type="http://schemas.openxmlformats.org/officeDocument/2006/relationships/image" Target="/ppt/media/image4.png" Id="R934831ecb1ff48af" /><Relationship Type="http://schemas.openxmlformats.org/officeDocument/2006/relationships/notesSlide" Target="/ppt/notesSlides/notesSlide7.xml" Id="Re3faff5c117d40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bdf8800c448c5" /><Relationship Type="http://schemas.openxmlformats.org/officeDocument/2006/relationships/image" Target="/ppt/media/image5.png" Id="R7e46a242877f4d34" /><Relationship Type="http://schemas.openxmlformats.org/officeDocument/2006/relationships/notesSlide" Target="/ppt/notesSlides/notesSlide8.xml" Id="Rcf51aaaf27ec4d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89126441dc47f5" /><Relationship Type="http://schemas.openxmlformats.org/officeDocument/2006/relationships/image" Target="/ppt/media/image6.png" Id="R7884e53a681f4fff" /><Relationship Type="http://schemas.openxmlformats.org/officeDocument/2006/relationships/notesSlide" Target="/ppt/notesSlides/notesSlide9.xml" Id="R85114a23344848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be4994ceea4056" /><Relationship Type="http://schemas.openxmlformats.org/officeDocument/2006/relationships/image" Target="/ppt/media/image7.png" Id="R72276260f4ad42ce" /><Relationship Type="http://schemas.openxmlformats.org/officeDocument/2006/relationships/image" Target="/ppt/media/image8.png" Id="R4b2a838e5f704870" /><Relationship Type="http://schemas.openxmlformats.org/officeDocument/2006/relationships/image" Target="/ppt/media/image9.png" Id="Rb5d45aa6b7d541ac" /><Relationship Type="http://schemas.openxmlformats.org/officeDocument/2006/relationships/notesSlide" Target="/ppt/notesSlides/notesSlide10.xml" Id="Rb97d4441eeff4b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e78f97a7504e01" /><Relationship Type="http://schemas.openxmlformats.org/officeDocument/2006/relationships/notesSlide" Target="/ppt/notesSlides/notesSlide11.xml" Id="R101961bf19014f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44a8f646d54eb0" /><Relationship Type="http://schemas.openxmlformats.org/officeDocument/2006/relationships/notesSlide" Target="/ppt/notesSlides/notesSlide12.xml" Id="R12267ea4e08841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aac372c914e4f" /><Relationship Type="http://schemas.openxmlformats.org/officeDocument/2006/relationships/notesSlide" Target="/ppt/notesSlides/notesSlide13.xml" Id="Rcca494962be945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41b1b01f784e64" /><Relationship Type="http://schemas.openxmlformats.org/officeDocument/2006/relationships/image" Target="/ppt/media/image10.png" Id="R743928fad1194d77" /><Relationship Type="http://schemas.openxmlformats.org/officeDocument/2006/relationships/notesSlide" Target="/ppt/notesSlides/notesSlide14.xml" Id="R22cac6baed844b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CFFE114F-C5FB-4DD0-9B91-06EBA7A6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Corre que Derrete!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E2A24C5-0C52-49F3-A090-8E42DE64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F9BA096-6750-48FA-8B6D-58136DA9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667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Daniel Pena</a:t>
            </a:r>
          </a:p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John Lucas</a:t>
            </a:r>
          </a:p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Lucas Oliveira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518CA74-7E8F-453C-9221-6D48FDF0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Computação Gráfica</a:t>
            </a:r>
          </a:p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7º período de Engenharia da Computação</a:t>
            </a:r>
          </a:p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Professor Pedro Cândido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B03F7-C666-4D24-BF1B-E7F8B54BBD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dff966ebf4972"/>
          <a:stretch xmlns:a="http://schemas.openxmlformats.org/drawingml/2006/main"/>
        </p:blipFill>
        <p:spPr>
          <a:xfrm xmlns:a="http://schemas.openxmlformats.org/drawingml/2006/main">
            <a:off x="5657850" y="1955899"/>
            <a:ext cx="5915025" cy="3327202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E9D2EFA-2908-4E42-A83D-E4E169DF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Entrega em 16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872103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E578D29-89C6-4110-B88F-657B2310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 ideia do jogo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1B76CD7-CF8E-4AAC-ADC3-2568A13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CA6AA72-0F15-4F10-9B31-79C1FCB4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Uma entrega em um dia quente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 lateral 2D</a:t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Partidas de cerca de um minuto</a:t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Público: jogadores iniciantes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75E0993-3CCA-4C0D-A8D3-33A72FFB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Conceito inicial</a:t>
            </a:r>
          </a:p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Avançar, saltar obstáculos</a:t>
            </a:r>
          </a:p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e conservar o sorvete.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94086-361E-4276-995C-A9624A02BD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ee7d126a74e77"/>
          <a:stretch xmlns:a="http://schemas.openxmlformats.org/drawingml/2006/main"/>
        </p:blipFill>
        <p:spPr>
          <a:xfrm xmlns:a="http://schemas.openxmlformats.org/drawingml/2006/main">
            <a:off x="5629275" y="1763316"/>
            <a:ext cx="5905500" cy="33218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6389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60833C8-8388-493C-8C8D-00832DE5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Regras e controles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D9BFDD4-20CD-4343-B457-6FFF86EC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9D3ADAD-1CF1-469A-9B06-6F2979F7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381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 barra começa em 100%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Calor: −2 pontos percentuais/s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Impacto: −20 pontos percentuais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Gelo: até +15, limitado a 100%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1AA027B-3AF9-4B39-9842-0B49D844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66875"/>
            <a:ext cx="504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Espaço ou cima: saltar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 ou Esc: pausar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Setas e Enter: menus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F11: tela cheia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BFE1074-B6C3-4866-AD90-B52FB90C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1.800 metros em três trechos</a:t>
            </a:r>
          </a:p>
          <a:p xmlns:a="http://schemas.openxmlformats.org/drawingml/2006/main">
            <a: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Mais velocidade e obstáculos mais próximos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515B8A5-DC86-4D89-BC58-DAC4F2BB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Chegou com sorvete: vitória. Barra zerada: derrota.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Pontos = metros inteiros + 100 por gelo.</a:t>
            </a:r>
          </a:p>
        </p:txBody>
      </p:sp>
    </p:spTree>
    <p:extLst>
      <p:ext uri="{BB962C8B-B14F-4D97-AF65-F5344CB8AC3E}">
        <p14:creationId xmlns:p14="http://schemas.microsoft.com/office/powerpoint/2010/main" val="15073521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8F243-96C4-40BB-84A3-DEDFE25DF951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6000750" y="2686050"/>
            <a:ext cx="0" cy="1219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FA6FC-0393-44E3-8697-7B4A35068DEE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847850" y="2686050"/>
            <a:ext cx="0" cy="1219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34DA93-80CF-4BFB-B289-0E592D25F67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239000" y="2343150"/>
            <a:ext cx="1752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1A148-0F95-4964-A1C4-8F120FB848F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086100" y="2343150"/>
            <a:ext cx="1676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tailEnd type="arrow" w="med" len="med"/>
          </a:ln>
        </p:spPr>
      </p:cxnSp>
      <p:sp>
        <p:nvSpPr>
          <p:cNvPr id="19" name="text-0">
            <a:extLst xmlns:a="http://schemas.openxmlformats.org/drawingml/2006/main">
              <a:ext uri="{FF2B5EF4-FFF2-40B4-BE49-F238E27FC236}">
                <a16:creationId xmlns:a16="http://schemas.microsoft.com/office/drawing/2014/main" id="{DC31179E-3258-41E6-BFCF-C33FC74F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O caminho entre as telas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FE6B417-D2C4-4ACD-A229-90DE908C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8BDE6-2E8B-48E3-9F64-3A790708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Menu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EC696-9E26-45D6-B0C8-00E8B488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EBCD6-8E93-47F3-B1F8-762695CA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00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Resultado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6346E29-23D2-4490-9DF4-28B6AD80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28775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Iniciar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0FB3751-2DD8-4896-9919-49FD786A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972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Vitória / derrota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CE33E5E2-D70B-4A34-81E5-D23B8724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Reiniciar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21F11-8C86-4DCF-BB4E-CDAB5741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Instruções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3CFEC-24C6-49E9-A954-752513D4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05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Pausa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F10951E1-9094-43AB-A92E-61A5385B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Voltar ao menu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832E9322-E33E-4B18-9245-326863BD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8196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Retomar ou abrir Áudio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90F459CF-36CC-414E-835F-9C07F496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62400"/>
            <a:ext cx="2714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No resultado</a:t>
            </a:r>
          </a:p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Reiniciar, menu ou sair</a:t>
            </a:r>
          </a:p>
        </p:txBody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361BF6A6-EC9F-48FD-B842-79FFCFE1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Áudio pode ser aberto pelo menu e pela pausa.</a:t>
            </a:r>
          </a:p>
        </p:txBody>
      </p:sp>
    </p:spTree>
    <p:extLst>
      <p:ext uri="{BB962C8B-B14F-4D97-AF65-F5344CB8AC3E}">
        <p14:creationId xmlns:p14="http://schemas.microsoft.com/office/powerpoint/2010/main" val="7153489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66574C61-44F4-43FC-A8B0-C74124F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Como o código se organiza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22AE565-34A8-483F-B30A-CFB7382D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8958ADB-5215-41BB-B43B-01E205DC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5095875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App</a:t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Comandos e telas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Run</a:t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Regras da corrida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Renderer e Window</a:t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Desenho e janela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2313B11-92B3-494C-BEAB-352C2D84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00200"/>
            <a:ext cx="51435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O loop repete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1. Ler os comandos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2. Atualizar a partida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3. Desenhar a tela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95CB2DB-64EE-4339-9529-B7C9978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667375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O tempo controla o movimento.</a:t>
            </a:r>
          </a:p>
          <a:p xmlns:a="http://schemas.openxmlformats.org/drawingml/2006/main">
            <a:pPr>
              <a:defRPr sz="180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A pausa congela a corrida.</a:t>
            </a:r>
          </a:p>
        </p:txBody>
      </p:sp>
    </p:spTree>
    <p:extLst>
      <p:ext uri="{BB962C8B-B14F-4D97-AF65-F5344CB8AC3E}">
        <p14:creationId xmlns:p14="http://schemas.microsoft.com/office/powerpoint/2010/main" val="8292529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ED55E911-D5EB-47D5-8E26-486C8EA3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Salto, câmera e colisão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EF0CC67-3C4E-4ED7-ADC9-43F8F38D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61C2D-1813-47BE-B8E4-DB1CC1A7A4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fbc94280b4705"/>
          <a:stretch xmlns:a="http://schemas.openxmlformats.org/drawingml/2006/main"/>
        </p:blipFill>
        <p:spPr>
          <a:xfrm xmlns:a="http://schemas.openxmlformats.org/drawingml/2006/main">
            <a:off x="609600" y="1516856"/>
            <a:ext cx="7239000" cy="4071938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C14C79C-62C9-4861-AA3C-F2428E6F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09725"/>
            <a:ext cx="34290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Salto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Velocidade e gravidade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Câmera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Cenário anda, HUD fica fixo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Colisão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Retângulos se sobrepõem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81AA03A-0C80-4C79-92D9-387BA002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AABB com pygame.Rect.colliderect</a:t>
            </a:r>
          </a:p>
        </p:txBody>
      </p:sp>
    </p:spTree>
    <p:extLst>
      <p:ext uri="{BB962C8B-B14F-4D97-AF65-F5344CB8AC3E}">
        <p14:creationId xmlns:p14="http://schemas.microsoft.com/office/powerpoint/2010/main" val="14460873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FAE494A-0A27-471B-B676-2C2189F0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Parallax no cenário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DBE2CC4-90FE-46B1-991C-119F45D7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D0FB2-C547-4430-B51A-F55DADC537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831ecb1ff48af"/>
          <a:stretch xmlns:a="http://schemas.openxmlformats.org/drawingml/2006/main"/>
        </p:blipFill>
        <p:spPr>
          <a:xfrm xmlns:a="http://schemas.openxmlformats.org/drawingml/2006/main">
            <a:off x="609600" y="1515070"/>
            <a:ext cx="8362950" cy="4704159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826F593-5A3E-49E5-A75A-32A09814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638300"/>
            <a:ext cx="252412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Mais distante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Nuvens mais lentas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Intermediário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Prédios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Mais próximo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Fachadas mais rápidas</a:t>
            </a:r>
          </a:p>
        </p:txBody>
      </p:sp>
    </p:spTree>
    <p:extLst>
      <p:ext uri="{BB962C8B-B14F-4D97-AF65-F5344CB8AC3E}">
        <p14:creationId xmlns:p14="http://schemas.microsoft.com/office/powerpoint/2010/main" val="10033737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6736AF57-9779-490E-8DF3-0F83D04A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O movimento do personagem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290FBD1-57F5-44B0-B5CC-16487267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8B14A3-E77C-4734-BC76-F50C21FE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Seis quadros formam a corrida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2361B-E2BF-4980-A4E4-65CC51B03C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6a242877f4d34"/>
          <a:stretch xmlns:a="http://schemas.openxmlformats.org/drawingml/2006/main"/>
        </p:blipFill>
        <p:spPr>
          <a:xfrm xmlns:a="http://schemas.openxmlformats.org/drawingml/2006/main">
            <a:off x="609600" y="2343150"/>
            <a:ext cx="10972800" cy="2286000"/>
          </a:xfrm>
          <a:prstGeom xmlns:a="http://schemas.openxmlformats.org/drawingml/2006/main" prst="rect">
            <a:avLst/>
          </a:prstGeom>
        </p:spPr>
      </p:pic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5DC85BA9-A3AC-4F9C-89DE-873DB480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Troca de quadros a 10 por segundo</a:t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Poses diferentes para subir e descer no salto</a:t>
            </a:r>
          </a:p>
        </p:txBody>
      </p:sp>
    </p:spTree>
    <p:extLst>
      <p:ext uri="{BB962C8B-B14F-4D97-AF65-F5344CB8AC3E}">
        <p14:creationId xmlns:p14="http://schemas.microsoft.com/office/powerpoint/2010/main" val="442795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C9B80A39-0D7F-49DB-91B8-ED48941A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Partículas e avisos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9ED14AD-2409-4EA9-AB8F-BCB1C3FF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854D3-583E-48A7-95D6-D0649FC997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e53a681f4fff"/>
          <a:stretch xmlns:a="http://schemas.openxmlformats.org/drawingml/2006/main"/>
        </p:blipFill>
        <p:spPr>
          <a:xfrm xmlns:a="http://schemas.openxmlformats.org/drawingml/2006/main">
            <a:off x="609600" y="1478756"/>
            <a:ext cx="8001000" cy="4500563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1417248-14A1-4387-A248-63025A91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8775"/>
            <a:ext cx="2809875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Cristais na coleta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Faíscas no impacto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Gotas no derretimento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Cada efeito tem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um tempo de vida.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Limite de 100 partículas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F9FA5DE-38C1-4B23-894A-E8DC3250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Cena preparada para mostrar os efeitos</a:t>
            </a:r>
          </a:p>
        </p:txBody>
      </p:sp>
    </p:spTree>
    <p:extLst>
      <p:ext uri="{BB962C8B-B14F-4D97-AF65-F5344CB8AC3E}">
        <p14:creationId xmlns:p14="http://schemas.microsoft.com/office/powerpoint/2010/main" val="2866722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73BB84FC-5F9C-4876-B1CF-0795DF9D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Evolução do projeto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A350187-EADB-48DE-BA30-CB17B63A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FDE89-210D-4018-89A2-DA1496419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76260f4ad42ce"/>
          <a:stretch xmlns:a="http://schemas.openxmlformats.org/drawingml/2006/main"/>
        </p:blipFill>
        <p:spPr>
          <a:xfrm xmlns:a="http://schemas.openxmlformats.org/drawingml/2006/main">
            <a:off x="609600" y="1897261"/>
            <a:ext cx="3429000" cy="202525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E3B6F-2151-45C4-ADE7-9312FB6AD9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a838e5f704870"/>
          <a:stretch xmlns:a="http://schemas.openxmlformats.org/drawingml/2006/main"/>
        </p:blipFill>
        <p:spPr>
          <a:xfrm xmlns:a="http://schemas.openxmlformats.org/drawingml/2006/main">
            <a:off x="4381500" y="2009977"/>
            <a:ext cx="3429000" cy="1799821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D9B09-7832-4686-B025-A91FAA0BBC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45aa6b7d541ac"/>
          <a:stretch xmlns:a="http://schemas.openxmlformats.org/drawingml/2006/main"/>
        </p:blipFill>
        <p:spPr>
          <a:xfrm xmlns:a="http://schemas.openxmlformats.org/drawingml/2006/main">
            <a:off x="8153400" y="1945481"/>
            <a:ext cx="3429000" cy="1928813"/>
          </a:xfrm>
          <a:prstGeom xmlns:a="http://schemas.openxmlformats.org/drawingml/2006/main" prst="rect">
            <a:avLst/>
          </a:prstGeom>
        </p:spPr>
      </p:pic>
      <p:sp>
        <p:nvSpPr>
          <p:cNvPr id="6" name="text-2">
            <a:extLst xmlns:a="http://schemas.openxmlformats.org/drawingml/2006/main">
              <a:ext uri="{FF2B5EF4-FFF2-40B4-BE49-F238E27FC236}">
                <a16:creationId xmlns:a16="http://schemas.microsoft.com/office/drawing/2014/main" id="{18FCA44B-0A01-44E4-9514-B3B6C955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Protótipo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Captura no Windows</a:t>
            </a:r>
          </a:p>
        </p:txBody>
      </p:sp>
      <p:sp>
        <p:nvSpPr>
          <p:cNvPr id="7" name="text-3">
            <a:extLst xmlns:a="http://schemas.openxmlformats.org/drawingml/2006/main">
              <a:ext uri="{FF2B5EF4-FFF2-40B4-BE49-F238E27FC236}">
                <a16:creationId xmlns:a16="http://schemas.microsoft.com/office/drawing/2014/main" id="{048BD158-64BA-4170-BDCC-F19E2B5A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Revisão visual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Captura no Windows</a:t>
            </a:r>
          </a:p>
        </p:txBody>
      </p:sp>
      <p:sp>
        <p:nvSpPr>
          <p:cNvPr id="8" name="text-4">
            <a:extLst xmlns:a="http://schemas.openxmlformats.org/drawingml/2006/main">
              <a:ext uri="{FF2B5EF4-FFF2-40B4-BE49-F238E27FC236}">
                <a16:creationId xmlns:a16="http://schemas.microsoft.com/office/drawing/2014/main" id="{B5C2F485-13EC-4A05-B357-862292C2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Versão atual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Cena do renderizador</a:t>
            </a:r>
          </a:p>
        </p:txBody>
      </p:sp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28A87592-436D-4EC7-BBB6-3EFE885C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Concepção, protótipo e revisões registrados no Git e no diário.</a:t>
            </a:r>
          </a:p>
        </p:txBody>
      </p:sp>
    </p:spTree>
    <p:extLst>
      <p:ext uri="{BB962C8B-B14F-4D97-AF65-F5344CB8AC3E}">
        <p14:creationId xmlns:p14="http://schemas.microsoft.com/office/powerpoint/2010/main" val="11737765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3623D285-9AF3-425E-91BC-54571B71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O que precisou de ajuste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0F08E30-6E38-4C3A-93F6-5AA27C50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F8AAA6C-7ACB-476F-9961-D9652650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00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Problema encontrado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AD6D8B4-DDCF-44F3-B933-CB78AF4F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6210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Ajuste aplicado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64D6E0A-3E16-434C-A2B7-BD4A9370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095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Símbolos ilegíveis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Imagem pouco nítida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Rosto estranho no cliente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441517F-90CD-4885-93BE-96A414C3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52863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Instruções por extenso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Desenho na resolução final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Dois olhos e sorriso central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CCD48114-1BAC-4E75-AAB1-0FDC1C7D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Verificações de regras, telas e reinício</a:t>
            </a:r>
          </a:p>
          <a:p xmlns:a="http://schemas.openxmlformats.org/drawingml/2006/main">
            <a:pPr>
              <a:defRPr sz="225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Partidas e avaliação visual no Windows</a:t>
            </a:r>
          </a:p>
        </p:txBody>
      </p:sp>
    </p:spTree>
    <p:extLst>
      <p:ext uri="{BB962C8B-B14F-4D97-AF65-F5344CB8AC3E}">
        <p14:creationId xmlns:p14="http://schemas.microsoft.com/office/powerpoint/2010/main" val="3867987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0B60B78-3D03-4455-8CE5-E9EC6E44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Participação da equipe e da IA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451326B-75D9-4ACA-832E-0F73F6CF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2B82E19-63B8-4F2E-B3BD-85669673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Daniel Pena, John Lucas e Lucas Oliveira</a:t>
            </a:r>
          </a:p>
          <a:p xmlns:a="http://schemas.openxmlformats.org/drawingml/2006/main">
            <a:pPr>
              <a:def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Escolha do tema, corrida lateral, obstáculos e itens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E47D83C-44F3-4753-BF8D-8AC80EED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Daniel Pena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Testes no Windows e retorno sobre as correções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9B06712-237C-4F44-AB72-977B88D0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ChatGPT / Codex, OpenAI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Geração de grande parte do código e apoio aos desenhos,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testes automatizados, documentação e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3824234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A9DA479E-6541-42B9-9B46-4E9DA494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Materiais e créditos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AC9FCDF-5635-4546-B8AD-238A082C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2C6E5FA-96BD-42E4-A52C-E6867F3B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06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Projeto orientado pelo enunciado do professor</a:t>
            </a:r>
          </a:p>
          <a:p xmlns:a="http://schemas.openxmlformats.org/drawingml/2006/main">
            <a:pPr>
              <a:def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Python 3 e Pygame 2.6.1</a:t>
            </a:r>
          </a:p>
          <a:p xmlns:a="http://schemas.openxmlformats.org/drawingml/2006/main">
            <a:pPr>
              <a:def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Personagens e cenário desenhados no código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A9412FB-36D3-49DA-BA9D-636ED6EF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Música</a:t>
            </a:r>
          </a:p>
          <a:p xmlns:a="http://schemas.openxmlformats.org/drawingml/2006/main">
            <a:pPr>
              <a:def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House In a Forest Loop, de HorrorPen</a:t>
            </a:r>
          </a:p>
          <a:p xmlns:a="http://schemas.openxmlformats.org/drawingml/2006/main">
            <a:pPr>
              <a:def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Licença CC BY 3.0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3261EF3-714B-4CCE-AA4E-B0DF3F48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Fontes, licenças e uso de IA documentados no repositório.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Sem código reutilizado dos três jogos indicados.</a:t>
            </a:r>
          </a:p>
        </p:txBody>
      </p:sp>
    </p:spTree>
    <p:extLst>
      <p:ext uri="{BB962C8B-B14F-4D97-AF65-F5344CB8AC3E}">
        <p14:creationId xmlns:p14="http://schemas.microsoft.com/office/powerpoint/2010/main" val="96916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75CE753E-537F-4B4F-B787-E4FC9C72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Demonstração do jogo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7878A60-DE2B-48A4-9DA7-045452BC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8BFCC-7733-4031-88DD-295573B307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928fad1194d77"/>
          <a:stretch xmlns:a="http://schemas.openxmlformats.org/drawingml/2006/main"/>
        </p:blipFill>
        <p:spPr>
          <a:xfrm xmlns:a="http://schemas.openxmlformats.org/drawingml/2006/main">
            <a:off x="609600" y="1476375"/>
            <a:ext cx="7620000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E2C01F06-0388-44F2-A864-46D68B68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724025"/>
            <a:ext cx="2952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Menu e início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 e coleta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Pausa e Áudio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Resultado e reinício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FA15330-6335-4B3C-A93A-1B0C13AC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A demonstração será ao vivo. A imagem ilustra a tela de resultado.</a:t>
            </a:r>
          </a:p>
        </p:txBody>
      </p:sp>
    </p:spTree>
    <p:extLst>
      <p:ext uri="{BB962C8B-B14F-4D97-AF65-F5344CB8AC3E}">
        <p14:creationId xmlns:p14="http://schemas.microsoft.com/office/powerpoint/2010/main" val="8719355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2026-10-15T14:59:32.4450000Z</dcterms:created>
  <dcterms:modified xsi:type="dcterms:W3CDTF">2026-10-15T14:59:32.4450000Z</dcterms:modified>
</coreProperties>
</file>